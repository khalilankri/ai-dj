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BM Plex Sans Bold" charset="1" panose="020B0803050203000203"/>
      <p:regular r:id="rId22"/>
    </p:embeddedFont>
    <p:embeddedFont>
      <p:font typeface="IBM Plex Sans" charset="1" panose="020B0503050203000203"/>
      <p:regular r:id="rId23"/>
    </p:embeddedFont>
    <p:embeddedFont>
      <p:font typeface="IBM Plex Sans Italics" charset="1" panose="020B050305020300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www.kaggle.com/datasets/maharshipandya/-spotify-tracks-dataset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10887" y="4623158"/>
            <a:ext cx="19298887" cy="4786446"/>
            <a:chOff x="0" y="0"/>
            <a:chExt cx="25731850" cy="638192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808712" y="5545422"/>
              <a:ext cx="15894516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300"/>
              <a:ext cx="25731850" cy="3043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3"/>
                </a:lnSpc>
              </a:pPr>
              <a:r>
                <a:rPr lang="en-US" b="true" sz="6503">
                  <a:solidFill>
                    <a:srgbClr val="5A8C99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AI DJ: Spotify Hit Predictor</a:t>
              </a:r>
            </a:p>
            <a:p>
              <a:pPr algn="ctr">
                <a:lnSpc>
                  <a:spcPts val="1050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77605" y="763873"/>
            <a:ext cx="3064261" cy="808560"/>
          </a:xfrm>
          <a:custGeom>
            <a:avLst/>
            <a:gdLst/>
            <a:ahLst/>
            <a:cxnLst/>
            <a:rect r="r" b="b" t="t" l="l"/>
            <a:pathLst>
              <a:path h="808560" w="3064261">
                <a:moveTo>
                  <a:pt x="0" y="0"/>
                </a:moveTo>
                <a:lnTo>
                  <a:pt x="3064261" y="0"/>
                </a:lnTo>
                <a:lnTo>
                  <a:pt x="3064261" y="808561"/>
                </a:lnTo>
                <a:lnTo>
                  <a:pt x="0" y="8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071352" y="8699667"/>
            <a:ext cx="4845637" cy="70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</a:pPr>
            <a:r>
              <a:rPr lang="en-US" b="true" sz="2190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Presented by :  </a:t>
            </a:r>
          </a:p>
          <a:p>
            <a:pPr algn="ctr">
              <a:lnSpc>
                <a:spcPts val="284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660347" y="8709192"/>
            <a:ext cx="4845637" cy="89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825" b="true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Antoine Paulis</a:t>
            </a:r>
          </a:p>
          <a:p>
            <a:pPr algn="l">
              <a:lnSpc>
                <a:spcPts val="2373"/>
              </a:lnSpc>
            </a:pPr>
            <a:r>
              <a:rPr lang="en-US" sz="1825" b="true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Charlotte Michon</a:t>
            </a:r>
          </a:p>
          <a:p>
            <a:pPr algn="l">
              <a:lnSpc>
                <a:spcPts val="2373"/>
              </a:lnSpc>
              <a:spcBef>
                <a:spcPct val="0"/>
              </a:spcBef>
            </a:pPr>
            <a:r>
              <a:rPr lang="en-US" b="true" sz="1825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Mohamed-Khalil Ankri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5A8C99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3723259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Definition &amp; Scoping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68385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ata Strategy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 EDA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40450" y="1009609"/>
            <a:ext cx="119188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Presentation Outline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7605" y="763873"/>
            <a:ext cx="3074390" cy="811233"/>
          </a:xfrm>
          <a:custGeom>
            <a:avLst/>
            <a:gdLst/>
            <a:ahLst/>
            <a:cxnLst/>
            <a:rect r="r" b="b" t="t" l="l"/>
            <a:pathLst>
              <a:path h="811233" w="3074390">
                <a:moveTo>
                  <a:pt x="0" y="0"/>
                </a:moveTo>
                <a:lnTo>
                  <a:pt x="3074390" y="0"/>
                </a:lnTo>
                <a:lnTo>
                  <a:pt x="3074390" y="811234"/>
                </a:lnTo>
                <a:lnTo>
                  <a:pt x="0" y="811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446540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MLOps Automation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90229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Machine learning models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2205" y="2557757"/>
            <a:ext cx="15930298" cy="592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proposal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Tool to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predict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if a song will be 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“hit” or a “flop”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by training on a Spotify dataset of different genres of music.</a:t>
            </a:r>
          </a:p>
          <a:p>
            <a:pPr algn="l">
              <a:lnSpc>
                <a:spcPts val="4289"/>
              </a:lnSpc>
            </a:pP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value proposition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Marketing goal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choose which titles could have the biggest impact to resonate with the audience of an ads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Radio diffusion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identify potential hits that could match current trends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DJ performance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choose best combinations of songs to animate parties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Independent artists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test different versions or mix of a track, to see which one could corresponds the best to actual “market” standards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60917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Definition &amp; Scoping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29998" y="8293712"/>
            <a:ext cx="5129302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retaken from project card we submitted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2205" y="2557757"/>
            <a:ext cx="15857167" cy="375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Scope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Data: Spotify audio features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Model: Binary classification (Hit vs. Flop) based on popularity thresholds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System: A functional API and a web dashboard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 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 of scope: Raw audio files (.mp3) or analyzing song lyrics (NLP) )</a:t>
            </a:r>
          </a:p>
          <a:p>
            <a:pPr algn="l">
              <a:lnSpc>
                <a:spcPts val="4289"/>
              </a:lnSpc>
            </a:pP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60917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Definition &amp; Scoping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700937" y="8740253"/>
            <a:ext cx="9344392" cy="6812911"/>
          </a:xfrm>
          <a:custGeom>
            <a:avLst/>
            <a:gdLst/>
            <a:ahLst/>
            <a:cxnLst/>
            <a:rect r="r" b="b" t="t" l="l"/>
            <a:pathLst>
              <a:path h="6812911" w="9344392">
                <a:moveTo>
                  <a:pt x="0" y="0"/>
                </a:moveTo>
                <a:lnTo>
                  <a:pt x="9344392" y="0"/>
                </a:lnTo>
                <a:lnTo>
                  <a:pt x="9344392" y="6812912"/>
                </a:lnTo>
                <a:lnTo>
                  <a:pt x="0" y="681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01302" y="2526965"/>
            <a:ext cx="380047" cy="311468"/>
            <a:chOff x="0" y="0"/>
            <a:chExt cx="506730" cy="415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777" y="49978"/>
              <a:ext cx="405454" cy="320083"/>
            </a:xfrm>
            <a:custGeom>
              <a:avLst/>
              <a:gdLst/>
              <a:ahLst/>
              <a:cxnLst/>
              <a:rect r="r" b="b" t="t" l="l"/>
              <a:pathLst>
                <a:path h="320083" w="405454">
                  <a:moveTo>
                    <a:pt x="327683" y="191322"/>
                  </a:moveTo>
                  <a:cubicBezTo>
                    <a:pt x="177823" y="205292"/>
                    <a:pt x="163853" y="237042"/>
                    <a:pt x="142263" y="240852"/>
                  </a:cubicBezTo>
                  <a:cubicBezTo>
                    <a:pt x="123213" y="244662"/>
                    <a:pt x="100353" y="238312"/>
                    <a:pt x="85113" y="228152"/>
                  </a:cubicBezTo>
                  <a:cubicBezTo>
                    <a:pt x="69873" y="217992"/>
                    <a:pt x="55903" y="197672"/>
                    <a:pt x="50823" y="179892"/>
                  </a:cubicBezTo>
                  <a:cubicBezTo>
                    <a:pt x="47013" y="162112"/>
                    <a:pt x="45743" y="137982"/>
                    <a:pt x="57173" y="122742"/>
                  </a:cubicBezTo>
                  <a:cubicBezTo>
                    <a:pt x="73683" y="101152"/>
                    <a:pt x="130833" y="82102"/>
                    <a:pt x="163853" y="84642"/>
                  </a:cubicBezTo>
                  <a:cubicBezTo>
                    <a:pt x="194333" y="85912"/>
                    <a:pt x="222273" y="111312"/>
                    <a:pt x="247673" y="129092"/>
                  </a:cubicBezTo>
                  <a:cubicBezTo>
                    <a:pt x="274343" y="146872"/>
                    <a:pt x="308633" y="171002"/>
                    <a:pt x="321333" y="191322"/>
                  </a:cubicBezTo>
                  <a:cubicBezTo>
                    <a:pt x="330223" y="205292"/>
                    <a:pt x="332763" y="216722"/>
                    <a:pt x="332763" y="230692"/>
                  </a:cubicBezTo>
                  <a:cubicBezTo>
                    <a:pt x="332763" y="24847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29893" y="325942"/>
                    <a:pt x="221003" y="314512"/>
                  </a:cubicBezTo>
                  <a:cubicBezTo>
                    <a:pt x="207033" y="294192"/>
                    <a:pt x="255293" y="158302"/>
                    <a:pt x="276883" y="150682"/>
                  </a:cubicBezTo>
                  <a:cubicBezTo>
                    <a:pt x="287043" y="146872"/>
                    <a:pt x="302283" y="162112"/>
                    <a:pt x="311173" y="172272"/>
                  </a:cubicBezTo>
                  <a:cubicBezTo>
                    <a:pt x="322603" y="186242"/>
                    <a:pt x="332763" y="210372"/>
                    <a:pt x="334033" y="228152"/>
                  </a:cubicBezTo>
                  <a:cubicBezTo>
                    <a:pt x="335303" y="242122"/>
                    <a:pt x="332763" y="254822"/>
                    <a:pt x="326413" y="267522"/>
                  </a:cubicBezTo>
                  <a:cubicBezTo>
                    <a:pt x="317523" y="282762"/>
                    <a:pt x="299743" y="301812"/>
                    <a:pt x="281963" y="309432"/>
                  </a:cubicBezTo>
                  <a:cubicBezTo>
                    <a:pt x="265453" y="315782"/>
                    <a:pt x="243863" y="314512"/>
                    <a:pt x="222273" y="310702"/>
                  </a:cubicBezTo>
                  <a:cubicBezTo>
                    <a:pt x="198143" y="306892"/>
                    <a:pt x="170203" y="292922"/>
                    <a:pt x="144803" y="277682"/>
                  </a:cubicBezTo>
                  <a:cubicBezTo>
                    <a:pt x="116863" y="261172"/>
                    <a:pt x="78763" y="243392"/>
                    <a:pt x="62253" y="212912"/>
                  </a:cubicBezTo>
                  <a:cubicBezTo>
                    <a:pt x="43203" y="177352"/>
                    <a:pt x="48283" y="98612"/>
                    <a:pt x="54633" y="66862"/>
                  </a:cubicBezTo>
                  <a:cubicBezTo>
                    <a:pt x="58443" y="50352"/>
                    <a:pt x="66063" y="40192"/>
                    <a:pt x="74953" y="30032"/>
                  </a:cubicBezTo>
                  <a:cubicBezTo>
                    <a:pt x="83843" y="19872"/>
                    <a:pt x="96543" y="10982"/>
                    <a:pt x="109243" y="5902"/>
                  </a:cubicBezTo>
                  <a:cubicBezTo>
                    <a:pt x="121943" y="2092"/>
                    <a:pt x="137183" y="-448"/>
                    <a:pt x="149883" y="822"/>
                  </a:cubicBezTo>
                  <a:cubicBezTo>
                    <a:pt x="163853" y="3362"/>
                    <a:pt x="177823" y="8442"/>
                    <a:pt x="189253" y="16062"/>
                  </a:cubicBezTo>
                  <a:cubicBezTo>
                    <a:pt x="200683" y="23682"/>
                    <a:pt x="210843" y="35112"/>
                    <a:pt x="217193" y="47812"/>
                  </a:cubicBezTo>
                  <a:cubicBezTo>
                    <a:pt x="223543" y="59242"/>
                    <a:pt x="229893" y="70672"/>
                    <a:pt x="227353" y="88452"/>
                  </a:cubicBezTo>
                  <a:cubicBezTo>
                    <a:pt x="223543" y="120202"/>
                    <a:pt x="149883" y="216722"/>
                    <a:pt x="156233" y="223072"/>
                  </a:cubicBezTo>
                  <a:cubicBezTo>
                    <a:pt x="157503" y="225612"/>
                    <a:pt x="174013" y="211642"/>
                    <a:pt x="176553" y="214182"/>
                  </a:cubicBezTo>
                  <a:cubicBezTo>
                    <a:pt x="180363" y="217992"/>
                    <a:pt x="167663" y="253552"/>
                    <a:pt x="156233" y="266252"/>
                  </a:cubicBezTo>
                  <a:cubicBezTo>
                    <a:pt x="144803" y="280222"/>
                    <a:pt x="127023" y="294192"/>
                    <a:pt x="107973" y="296732"/>
                  </a:cubicBezTo>
                  <a:cubicBezTo>
                    <a:pt x="85113" y="299272"/>
                    <a:pt x="45743" y="291652"/>
                    <a:pt x="27963" y="275142"/>
                  </a:cubicBezTo>
                  <a:cubicBezTo>
                    <a:pt x="10183" y="258632"/>
                    <a:pt x="-1247" y="219262"/>
                    <a:pt x="1293" y="196402"/>
                  </a:cubicBezTo>
                  <a:cubicBezTo>
                    <a:pt x="2563" y="178622"/>
                    <a:pt x="13993" y="159572"/>
                    <a:pt x="26693" y="146872"/>
                  </a:cubicBezTo>
                  <a:cubicBezTo>
                    <a:pt x="39393" y="134172"/>
                    <a:pt x="58443" y="122742"/>
                    <a:pt x="77493" y="122742"/>
                  </a:cubicBezTo>
                  <a:cubicBezTo>
                    <a:pt x="100353" y="121472"/>
                    <a:pt x="138453" y="134172"/>
                    <a:pt x="154963" y="151952"/>
                  </a:cubicBezTo>
                  <a:cubicBezTo>
                    <a:pt x="170203" y="171002"/>
                    <a:pt x="177823" y="210372"/>
                    <a:pt x="174013" y="233232"/>
                  </a:cubicBezTo>
                  <a:cubicBezTo>
                    <a:pt x="170203" y="252282"/>
                    <a:pt x="156233" y="268792"/>
                    <a:pt x="142263" y="280222"/>
                  </a:cubicBezTo>
                  <a:cubicBezTo>
                    <a:pt x="128293" y="291652"/>
                    <a:pt x="106703" y="298002"/>
                    <a:pt x="88923" y="299272"/>
                  </a:cubicBezTo>
                  <a:cubicBezTo>
                    <a:pt x="71143" y="299272"/>
                    <a:pt x="49553" y="294192"/>
                    <a:pt x="35583" y="281492"/>
                  </a:cubicBezTo>
                  <a:cubicBezTo>
                    <a:pt x="17803" y="266252"/>
                    <a:pt x="23" y="237042"/>
                    <a:pt x="23" y="206562"/>
                  </a:cubicBezTo>
                  <a:cubicBezTo>
                    <a:pt x="-1247" y="160842"/>
                    <a:pt x="49553" y="60512"/>
                    <a:pt x="74953" y="30032"/>
                  </a:cubicBezTo>
                  <a:cubicBezTo>
                    <a:pt x="86383" y="16062"/>
                    <a:pt x="96543" y="10982"/>
                    <a:pt x="109243" y="5902"/>
                  </a:cubicBezTo>
                  <a:cubicBezTo>
                    <a:pt x="121943" y="2092"/>
                    <a:pt x="135913" y="-1718"/>
                    <a:pt x="149883" y="822"/>
                  </a:cubicBezTo>
                  <a:cubicBezTo>
                    <a:pt x="167663" y="4632"/>
                    <a:pt x="193063" y="17332"/>
                    <a:pt x="205763" y="30032"/>
                  </a:cubicBezTo>
                  <a:cubicBezTo>
                    <a:pt x="215923" y="40192"/>
                    <a:pt x="221003" y="56702"/>
                    <a:pt x="224813" y="66862"/>
                  </a:cubicBezTo>
                  <a:cubicBezTo>
                    <a:pt x="227353" y="74482"/>
                    <a:pt x="229893" y="80832"/>
                    <a:pt x="227353" y="88452"/>
                  </a:cubicBezTo>
                  <a:cubicBezTo>
                    <a:pt x="222273" y="99882"/>
                    <a:pt x="179093" y="113852"/>
                    <a:pt x="181633" y="126552"/>
                  </a:cubicBezTo>
                  <a:cubicBezTo>
                    <a:pt x="184173" y="144332"/>
                    <a:pt x="287043" y="153222"/>
                    <a:pt x="311173" y="172272"/>
                  </a:cubicBezTo>
                  <a:cubicBezTo>
                    <a:pt x="323873" y="183702"/>
                    <a:pt x="327683" y="193862"/>
                    <a:pt x="331493" y="207832"/>
                  </a:cubicBezTo>
                  <a:cubicBezTo>
                    <a:pt x="335303" y="224342"/>
                    <a:pt x="334033" y="251012"/>
                    <a:pt x="326413" y="267522"/>
                  </a:cubicBezTo>
                  <a:cubicBezTo>
                    <a:pt x="317523" y="284032"/>
                    <a:pt x="299743" y="301812"/>
                    <a:pt x="281963" y="309432"/>
                  </a:cubicBezTo>
                  <a:cubicBezTo>
                    <a:pt x="265453" y="315782"/>
                    <a:pt x="231163" y="322132"/>
                    <a:pt x="222273" y="310702"/>
                  </a:cubicBezTo>
                  <a:cubicBezTo>
                    <a:pt x="208303" y="291652"/>
                    <a:pt x="254023" y="160842"/>
                    <a:pt x="275613" y="153222"/>
                  </a:cubicBezTo>
                  <a:cubicBezTo>
                    <a:pt x="285773" y="150682"/>
                    <a:pt x="299743" y="164652"/>
                    <a:pt x="308633" y="176082"/>
                  </a:cubicBezTo>
                  <a:cubicBezTo>
                    <a:pt x="320063" y="188782"/>
                    <a:pt x="331493" y="211642"/>
                    <a:pt x="332763" y="230692"/>
                  </a:cubicBezTo>
                  <a:cubicBezTo>
                    <a:pt x="332763" y="24974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42593" y="320862"/>
                    <a:pt x="221003" y="314512"/>
                  </a:cubicBezTo>
                  <a:cubicBezTo>
                    <a:pt x="186713" y="304352"/>
                    <a:pt x="101623" y="257362"/>
                    <a:pt x="104163" y="237042"/>
                  </a:cubicBezTo>
                  <a:cubicBezTo>
                    <a:pt x="105433" y="219262"/>
                    <a:pt x="201953" y="192592"/>
                    <a:pt x="204493" y="196402"/>
                  </a:cubicBezTo>
                  <a:cubicBezTo>
                    <a:pt x="205763" y="198942"/>
                    <a:pt x="163853" y="238312"/>
                    <a:pt x="142263" y="240852"/>
                  </a:cubicBezTo>
                  <a:cubicBezTo>
                    <a:pt x="119403" y="243392"/>
                    <a:pt x="85113" y="231962"/>
                    <a:pt x="69873" y="215452"/>
                  </a:cubicBezTo>
                  <a:cubicBezTo>
                    <a:pt x="54633" y="197672"/>
                    <a:pt x="45743" y="163382"/>
                    <a:pt x="50823" y="140522"/>
                  </a:cubicBezTo>
                  <a:cubicBezTo>
                    <a:pt x="57173" y="116392"/>
                    <a:pt x="82573" y="89722"/>
                    <a:pt x="111783" y="73212"/>
                  </a:cubicBezTo>
                  <a:cubicBezTo>
                    <a:pt x="153693" y="49082"/>
                    <a:pt x="242593" y="37652"/>
                    <a:pt x="289583" y="35112"/>
                  </a:cubicBezTo>
                  <a:cubicBezTo>
                    <a:pt x="318793" y="33842"/>
                    <a:pt x="344193" y="32572"/>
                    <a:pt x="363243" y="45272"/>
                  </a:cubicBezTo>
                  <a:cubicBezTo>
                    <a:pt x="382293" y="56702"/>
                    <a:pt x="402613" y="83372"/>
                    <a:pt x="405153" y="104962"/>
                  </a:cubicBezTo>
                  <a:cubicBezTo>
                    <a:pt x="407693" y="125282"/>
                    <a:pt x="393723" y="157032"/>
                    <a:pt x="378483" y="172272"/>
                  </a:cubicBezTo>
                  <a:cubicBezTo>
                    <a:pt x="365783" y="184972"/>
                    <a:pt x="327683" y="191322"/>
                    <a:pt x="327683" y="191322"/>
                  </a:cubicBezTo>
                </a:path>
              </a:pathLst>
            </a:custGeom>
            <a:solidFill>
              <a:srgbClr val="FFFF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719428" y="1028700"/>
            <a:ext cx="5236377" cy="7462955"/>
          </a:xfrm>
          <a:custGeom>
            <a:avLst/>
            <a:gdLst/>
            <a:ahLst/>
            <a:cxnLst/>
            <a:rect r="r" b="b" t="t" l="l"/>
            <a:pathLst>
              <a:path h="7462955" w="5236377">
                <a:moveTo>
                  <a:pt x="0" y="0"/>
                </a:moveTo>
                <a:lnTo>
                  <a:pt x="5236377" y="0"/>
                </a:lnTo>
                <a:lnTo>
                  <a:pt x="5236377" y="7462955"/>
                </a:lnTo>
                <a:lnTo>
                  <a:pt x="0" y="7462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288880" y="516406"/>
            <a:ext cx="9144000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 Automation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7605" y="1380490"/>
            <a:ext cx="10689556" cy="815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github repository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>
              <a:lnSpc>
                <a:spcPts val="4289"/>
              </a:lnSpc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this milestone, we used the folders as following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docs: contains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.md files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written explainations about the project, and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.pdf figures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generated (from the notebook EDA) 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infra: contains the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notebook for Google Cloud Storage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implementation - mainly lab2 work, examples but we only fetch the bucket link to use the dataset to perform EDA (no uploaded file for the moment) 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src: contains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.py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code files and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notebook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- the models are in training folder, other files are empty (just to represent desired structure for future work) 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tests: contains python code too, mainly for lab sessions </a:t>
            </a:r>
          </a:p>
          <a:p>
            <a:pPr algn="l">
              <a:lnSpc>
                <a:spcPts val="3380"/>
              </a:lnSpc>
            </a:pP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git flow strategy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merge approach to integrate changes from develop to features 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merge conflicts occured (only some local problems on synchronization for one of us)</a:t>
            </a:r>
          </a:p>
          <a:p>
            <a:pPr algn="l">
              <a:lnSpc>
                <a:spcPts val="428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719428" y="8529320"/>
            <a:ext cx="5236377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screenshot picture to illustrate the initial repository structure: small modifications occured during work, but main idea for structure is still the same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700937" y="8740253"/>
            <a:ext cx="9344392" cy="6812911"/>
          </a:xfrm>
          <a:custGeom>
            <a:avLst/>
            <a:gdLst/>
            <a:ahLst/>
            <a:cxnLst/>
            <a:rect r="r" b="b" t="t" l="l"/>
            <a:pathLst>
              <a:path h="6812911" w="9344392">
                <a:moveTo>
                  <a:pt x="0" y="0"/>
                </a:moveTo>
                <a:lnTo>
                  <a:pt x="9344392" y="0"/>
                </a:lnTo>
                <a:lnTo>
                  <a:pt x="9344392" y="6812912"/>
                </a:lnTo>
                <a:lnTo>
                  <a:pt x="0" y="681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01302" y="2526965"/>
            <a:ext cx="380047" cy="311468"/>
            <a:chOff x="0" y="0"/>
            <a:chExt cx="506730" cy="415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777" y="49978"/>
              <a:ext cx="405454" cy="320083"/>
            </a:xfrm>
            <a:custGeom>
              <a:avLst/>
              <a:gdLst/>
              <a:ahLst/>
              <a:cxnLst/>
              <a:rect r="r" b="b" t="t" l="l"/>
              <a:pathLst>
                <a:path h="320083" w="405454">
                  <a:moveTo>
                    <a:pt x="327683" y="191322"/>
                  </a:moveTo>
                  <a:cubicBezTo>
                    <a:pt x="177823" y="205292"/>
                    <a:pt x="163853" y="237042"/>
                    <a:pt x="142263" y="240852"/>
                  </a:cubicBezTo>
                  <a:cubicBezTo>
                    <a:pt x="123213" y="244662"/>
                    <a:pt x="100353" y="238312"/>
                    <a:pt x="85113" y="228152"/>
                  </a:cubicBezTo>
                  <a:cubicBezTo>
                    <a:pt x="69873" y="217992"/>
                    <a:pt x="55903" y="197672"/>
                    <a:pt x="50823" y="179892"/>
                  </a:cubicBezTo>
                  <a:cubicBezTo>
                    <a:pt x="47013" y="162112"/>
                    <a:pt x="45743" y="137982"/>
                    <a:pt x="57173" y="122742"/>
                  </a:cubicBezTo>
                  <a:cubicBezTo>
                    <a:pt x="73683" y="101152"/>
                    <a:pt x="130833" y="82102"/>
                    <a:pt x="163853" y="84642"/>
                  </a:cubicBezTo>
                  <a:cubicBezTo>
                    <a:pt x="194333" y="85912"/>
                    <a:pt x="222273" y="111312"/>
                    <a:pt x="247673" y="129092"/>
                  </a:cubicBezTo>
                  <a:cubicBezTo>
                    <a:pt x="274343" y="146872"/>
                    <a:pt x="308633" y="171002"/>
                    <a:pt x="321333" y="191322"/>
                  </a:cubicBezTo>
                  <a:cubicBezTo>
                    <a:pt x="330223" y="205292"/>
                    <a:pt x="332763" y="216722"/>
                    <a:pt x="332763" y="230692"/>
                  </a:cubicBezTo>
                  <a:cubicBezTo>
                    <a:pt x="332763" y="24847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29893" y="325942"/>
                    <a:pt x="221003" y="314512"/>
                  </a:cubicBezTo>
                  <a:cubicBezTo>
                    <a:pt x="207033" y="294192"/>
                    <a:pt x="255293" y="158302"/>
                    <a:pt x="276883" y="150682"/>
                  </a:cubicBezTo>
                  <a:cubicBezTo>
                    <a:pt x="287043" y="146872"/>
                    <a:pt x="302283" y="162112"/>
                    <a:pt x="311173" y="172272"/>
                  </a:cubicBezTo>
                  <a:cubicBezTo>
                    <a:pt x="322603" y="186242"/>
                    <a:pt x="332763" y="210372"/>
                    <a:pt x="334033" y="228152"/>
                  </a:cubicBezTo>
                  <a:cubicBezTo>
                    <a:pt x="335303" y="242122"/>
                    <a:pt x="332763" y="254822"/>
                    <a:pt x="326413" y="267522"/>
                  </a:cubicBezTo>
                  <a:cubicBezTo>
                    <a:pt x="317523" y="282762"/>
                    <a:pt x="299743" y="301812"/>
                    <a:pt x="281963" y="309432"/>
                  </a:cubicBezTo>
                  <a:cubicBezTo>
                    <a:pt x="265453" y="315782"/>
                    <a:pt x="243863" y="314512"/>
                    <a:pt x="222273" y="310702"/>
                  </a:cubicBezTo>
                  <a:cubicBezTo>
                    <a:pt x="198143" y="306892"/>
                    <a:pt x="170203" y="292922"/>
                    <a:pt x="144803" y="277682"/>
                  </a:cubicBezTo>
                  <a:cubicBezTo>
                    <a:pt x="116863" y="261172"/>
                    <a:pt x="78763" y="243392"/>
                    <a:pt x="62253" y="212912"/>
                  </a:cubicBezTo>
                  <a:cubicBezTo>
                    <a:pt x="43203" y="177352"/>
                    <a:pt x="48283" y="98612"/>
                    <a:pt x="54633" y="66862"/>
                  </a:cubicBezTo>
                  <a:cubicBezTo>
                    <a:pt x="58443" y="50352"/>
                    <a:pt x="66063" y="40192"/>
                    <a:pt x="74953" y="30032"/>
                  </a:cubicBezTo>
                  <a:cubicBezTo>
                    <a:pt x="83843" y="19872"/>
                    <a:pt x="96543" y="10982"/>
                    <a:pt x="109243" y="5902"/>
                  </a:cubicBezTo>
                  <a:cubicBezTo>
                    <a:pt x="121943" y="2092"/>
                    <a:pt x="137183" y="-448"/>
                    <a:pt x="149883" y="822"/>
                  </a:cubicBezTo>
                  <a:cubicBezTo>
                    <a:pt x="163853" y="3362"/>
                    <a:pt x="177823" y="8442"/>
                    <a:pt x="189253" y="16062"/>
                  </a:cubicBezTo>
                  <a:cubicBezTo>
                    <a:pt x="200683" y="23682"/>
                    <a:pt x="210843" y="35112"/>
                    <a:pt x="217193" y="47812"/>
                  </a:cubicBezTo>
                  <a:cubicBezTo>
                    <a:pt x="223543" y="59242"/>
                    <a:pt x="229893" y="70672"/>
                    <a:pt x="227353" y="88452"/>
                  </a:cubicBezTo>
                  <a:cubicBezTo>
                    <a:pt x="223543" y="120202"/>
                    <a:pt x="149883" y="216722"/>
                    <a:pt x="156233" y="223072"/>
                  </a:cubicBezTo>
                  <a:cubicBezTo>
                    <a:pt x="157503" y="225612"/>
                    <a:pt x="174013" y="211642"/>
                    <a:pt x="176553" y="214182"/>
                  </a:cubicBezTo>
                  <a:cubicBezTo>
                    <a:pt x="180363" y="217992"/>
                    <a:pt x="167663" y="253552"/>
                    <a:pt x="156233" y="266252"/>
                  </a:cubicBezTo>
                  <a:cubicBezTo>
                    <a:pt x="144803" y="280222"/>
                    <a:pt x="127023" y="294192"/>
                    <a:pt x="107973" y="296732"/>
                  </a:cubicBezTo>
                  <a:cubicBezTo>
                    <a:pt x="85113" y="299272"/>
                    <a:pt x="45743" y="291652"/>
                    <a:pt x="27963" y="275142"/>
                  </a:cubicBezTo>
                  <a:cubicBezTo>
                    <a:pt x="10183" y="258632"/>
                    <a:pt x="-1247" y="219262"/>
                    <a:pt x="1293" y="196402"/>
                  </a:cubicBezTo>
                  <a:cubicBezTo>
                    <a:pt x="2563" y="178622"/>
                    <a:pt x="13993" y="159572"/>
                    <a:pt x="26693" y="146872"/>
                  </a:cubicBezTo>
                  <a:cubicBezTo>
                    <a:pt x="39393" y="134172"/>
                    <a:pt x="58443" y="122742"/>
                    <a:pt x="77493" y="122742"/>
                  </a:cubicBezTo>
                  <a:cubicBezTo>
                    <a:pt x="100353" y="121472"/>
                    <a:pt x="138453" y="134172"/>
                    <a:pt x="154963" y="151952"/>
                  </a:cubicBezTo>
                  <a:cubicBezTo>
                    <a:pt x="170203" y="171002"/>
                    <a:pt x="177823" y="210372"/>
                    <a:pt x="174013" y="233232"/>
                  </a:cubicBezTo>
                  <a:cubicBezTo>
                    <a:pt x="170203" y="252282"/>
                    <a:pt x="156233" y="268792"/>
                    <a:pt x="142263" y="280222"/>
                  </a:cubicBezTo>
                  <a:cubicBezTo>
                    <a:pt x="128293" y="291652"/>
                    <a:pt x="106703" y="298002"/>
                    <a:pt x="88923" y="299272"/>
                  </a:cubicBezTo>
                  <a:cubicBezTo>
                    <a:pt x="71143" y="299272"/>
                    <a:pt x="49553" y="294192"/>
                    <a:pt x="35583" y="281492"/>
                  </a:cubicBezTo>
                  <a:cubicBezTo>
                    <a:pt x="17803" y="266252"/>
                    <a:pt x="23" y="237042"/>
                    <a:pt x="23" y="206562"/>
                  </a:cubicBezTo>
                  <a:cubicBezTo>
                    <a:pt x="-1247" y="160842"/>
                    <a:pt x="49553" y="60512"/>
                    <a:pt x="74953" y="30032"/>
                  </a:cubicBezTo>
                  <a:cubicBezTo>
                    <a:pt x="86383" y="16062"/>
                    <a:pt x="96543" y="10982"/>
                    <a:pt x="109243" y="5902"/>
                  </a:cubicBezTo>
                  <a:cubicBezTo>
                    <a:pt x="121943" y="2092"/>
                    <a:pt x="135913" y="-1718"/>
                    <a:pt x="149883" y="822"/>
                  </a:cubicBezTo>
                  <a:cubicBezTo>
                    <a:pt x="167663" y="4632"/>
                    <a:pt x="193063" y="17332"/>
                    <a:pt x="205763" y="30032"/>
                  </a:cubicBezTo>
                  <a:cubicBezTo>
                    <a:pt x="215923" y="40192"/>
                    <a:pt x="221003" y="56702"/>
                    <a:pt x="224813" y="66862"/>
                  </a:cubicBezTo>
                  <a:cubicBezTo>
                    <a:pt x="227353" y="74482"/>
                    <a:pt x="229893" y="80832"/>
                    <a:pt x="227353" y="88452"/>
                  </a:cubicBezTo>
                  <a:cubicBezTo>
                    <a:pt x="222273" y="99882"/>
                    <a:pt x="179093" y="113852"/>
                    <a:pt x="181633" y="126552"/>
                  </a:cubicBezTo>
                  <a:cubicBezTo>
                    <a:pt x="184173" y="144332"/>
                    <a:pt x="287043" y="153222"/>
                    <a:pt x="311173" y="172272"/>
                  </a:cubicBezTo>
                  <a:cubicBezTo>
                    <a:pt x="323873" y="183702"/>
                    <a:pt x="327683" y="193862"/>
                    <a:pt x="331493" y="207832"/>
                  </a:cubicBezTo>
                  <a:cubicBezTo>
                    <a:pt x="335303" y="224342"/>
                    <a:pt x="334033" y="251012"/>
                    <a:pt x="326413" y="267522"/>
                  </a:cubicBezTo>
                  <a:cubicBezTo>
                    <a:pt x="317523" y="284032"/>
                    <a:pt x="299743" y="301812"/>
                    <a:pt x="281963" y="309432"/>
                  </a:cubicBezTo>
                  <a:cubicBezTo>
                    <a:pt x="265453" y="315782"/>
                    <a:pt x="231163" y="322132"/>
                    <a:pt x="222273" y="310702"/>
                  </a:cubicBezTo>
                  <a:cubicBezTo>
                    <a:pt x="208303" y="291652"/>
                    <a:pt x="254023" y="160842"/>
                    <a:pt x="275613" y="153222"/>
                  </a:cubicBezTo>
                  <a:cubicBezTo>
                    <a:pt x="285773" y="150682"/>
                    <a:pt x="299743" y="164652"/>
                    <a:pt x="308633" y="176082"/>
                  </a:cubicBezTo>
                  <a:cubicBezTo>
                    <a:pt x="320063" y="188782"/>
                    <a:pt x="331493" y="211642"/>
                    <a:pt x="332763" y="230692"/>
                  </a:cubicBezTo>
                  <a:cubicBezTo>
                    <a:pt x="332763" y="24974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42593" y="320862"/>
                    <a:pt x="221003" y="314512"/>
                  </a:cubicBezTo>
                  <a:cubicBezTo>
                    <a:pt x="186713" y="304352"/>
                    <a:pt x="101623" y="257362"/>
                    <a:pt x="104163" y="237042"/>
                  </a:cubicBezTo>
                  <a:cubicBezTo>
                    <a:pt x="105433" y="219262"/>
                    <a:pt x="201953" y="192592"/>
                    <a:pt x="204493" y="196402"/>
                  </a:cubicBezTo>
                  <a:cubicBezTo>
                    <a:pt x="205763" y="198942"/>
                    <a:pt x="163853" y="238312"/>
                    <a:pt x="142263" y="240852"/>
                  </a:cubicBezTo>
                  <a:cubicBezTo>
                    <a:pt x="119403" y="243392"/>
                    <a:pt x="85113" y="231962"/>
                    <a:pt x="69873" y="215452"/>
                  </a:cubicBezTo>
                  <a:cubicBezTo>
                    <a:pt x="54633" y="197672"/>
                    <a:pt x="45743" y="163382"/>
                    <a:pt x="50823" y="140522"/>
                  </a:cubicBezTo>
                  <a:cubicBezTo>
                    <a:pt x="57173" y="116392"/>
                    <a:pt x="82573" y="89722"/>
                    <a:pt x="111783" y="73212"/>
                  </a:cubicBezTo>
                  <a:cubicBezTo>
                    <a:pt x="153693" y="49082"/>
                    <a:pt x="242593" y="37652"/>
                    <a:pt x="289583" y="35112"/>
                  </a:cubicBezTo>
                  <a:cubicBezTo>
                    <a:pt x="318793" y="33842"/>
                    <a:pt x="344193" y="32572"/>
                    <a:pt x="363243" y="45272"/>
                  </a:cubicBezTo>
                  <a:cubicBezTo>
                    <a:pt x="382293" y="56702"/>
                    <a:pt x="402613" y="83372"/>
                    <a:pt x="405153" y="104962"/>
                  </a:cubicBezTo>
                  <a:cubicBezTo>
                    <a:pt x="407693" y="125282"/>
                    <a:pt x="393723" y="157032"/>
                    <a:pt x="378483" y="172272"/>
                  </a:cubicBezTo>
                  <a:cubicBezTo>
                    <a:pt x="365783" y="184972"/>
                    <a:pt x="327683" y="191322"/>
                    <a:pt x="327683" y="191322"/>
                  </a:cubicBezTo>
                </a:path>
              </a:pathLst>
            </a:custGeom>
            <a:solidFill>
              <a:srgbClr val="FFFF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8254575" y="1034850"/>
            <a:ext cx="1778849" cy="15811993"/>
          </a:xfrm>
          <a:custGeom>
            <a:avLst/>
            <a:gdLst/>
            <a:ahLst/>
            <a:cxnLst/>
            <a:rect r="r" b="b" t="t" l="l"/>
            <a:pathLst>
              <a:path h="15811993" w="1778849">
                <a:moveTo>
                  <a:pt x="0" y="0"/>
                </a:moveTo>
                <a:lnTo>
                  <a:pt x="1778850" y="0"/>
                </a:lnTo>
                <a:lnTo>
                  <a:pt x="1778850" y="15811993"/>
                </a:lnTo>
                <a:lnTo>
                  <a:pt x="0" y="15811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56118" y="1028700"/>
            <a:ext cx="3921930" cy="6850533"/>
          </a:xfrm>
          <a:custGeom>
            <a:avLst/>
            <a:gdLst/>
            <a:ahLst/>
            <a:cxnLst/>
            <a:rect r="r" b="b" t="t" l="l"/>
            <a:pathLst>
              <a:path h="6850533" w="3921930">
                <a:moveTo>
                  <a:pt x="0" y="0"/>
                </a:moveTo>
                <a:lnTo>
                  <a:pt x="3921930" y="0"/>
                </a:lnTo>
                <a:lnTo>
                  <a:pt x="3921930" y="6850533"/>
                </a:lnTo>
                <a:lnTo>
                  <a:pt x="0" y="6850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288880" y="516406"/>
            <a:ext cx="9144000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 Automation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84169" y="9811221"/>
            <a:ext cx="386582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generated git graph in VSCode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7605" y="1415543"/>
            <a:ext cx="12274253" cy="622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points of amelioration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</a:p>
          <a:p>
            <a:pPr algn="l">
              <a:lnSpc>
                <a:spcPts val="4289"/>
              </a:lnSpc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By observing the graph of our github, we want to improve...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merge earlier branches to avoid “crossed-nodes”: reduce live time of features branches and merge them as soon as one task is finished (or at least sketched completly - and bring some modifications and improvements later on) </a:t>
            </a:r>
          </a:p>
          <a:p>
            <a:pPr algn="l">
              <a:lnSpc>
                <a:spcPts val="3380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delete remote/local branches earlier, and feature branches implemented only for the lab session: clean more frequently branches since it is not totally clear what changes were made exactly</a:t>
            </a:r>
          </a:p>
          <a:p>
            <a:pPr algn="l">
              <a:lnSpc>
                <a:spcPts val="3380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 clearer history: consider less merge commits and use rebase to integrate more often our develop functionnalites (that we discussed together to assess utility)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700937" y="8740253"/>
            <a:ext cx="9344392" cy="6812911"/>
          </a:xfrm>
          <a:custGeom>
            <a:avLst/>
            <a:gdLst/>
            <a:ahLst/>
            <a:cxnLst/>
            <a:rect r="r" b="b" t="t" l="l"/>
            <a:pathLst>
              <a:path h="6812911" w="9344392">
                <a:moveTo>
                  <a:pt x="0" y="0"/>
                </a:moveTo>
                <a:lnTo>
                  <a:pt x="9344392" y="0"/>
                </a:lnTo>
                <a:lnTo>
                  <a:pt x="9344392" y="6812912"/>
                </a:lnTo>
                <a:lnTo>
                  <a:pt x="0" y="681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01302" y="2526965"/>
            <a:ext cx="380047" cy="311468"/>
            <a:chOff x="0" y="0"/>
            <a:chExt cx="506730" cy="415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777" y="49978"/>
              <a:ext cx="405454" cy="320083"/>
            </a:xfrm>
            <a:custGeom>
              <a:avLst/>
              <a:gdLst/>
              <a:ahLst/>
              <a:cxnLst/>
              <a:rect r="r" b="b" t="t" l="l"/>
              <a:pathLst>
                <a:path h="320083" w="405454">
                  <a:moveTo>
                    <a:pt x="327683" y="191322"/>
                  </a:moveTo>
                  <a:cubicBezTo>
                    <a:pt x="177823" y="205292"/>
                    <a:pt x="163853" y="237042"/>
                    <a:pt x="142263" y="240852"/>
                  </a:cubicBezTo>
                  <a:cubicBezTo>
                    <a:pt x="123213" y="244662"/>
                    <a:pt x="100353" y="238312"/>
                    <a:pt x="85113" y="228152"/>
                  </a:cubicBezTo>
                  <a:cubicBezTo>
                    <a:pt x="69873" y="217992"/>
                    <a:pt x="55903" y="197672"/>
                    <a:pt x="50823" y="179892"/>
                  </a:cubicBezTo>
                  <a:cubicBezTo>
                    <a:pt x="47013" y="162112"/>
                    <a:pt x="45743" y="137982"/>
                    <a:pt x="57173" y="122742"/>
                  </a:cubicBezTo>
                  <a:cubicBezTo>
                    <a:pt x="73683" y="101152"/>
                    <a:pt x="130833" y="82102"/>
                    <a:pt x="163853" y="84642"/>
                  </a:cubicBezTo>
                  <a:cubicBezTo>
                    <a:pt x="194333" y="85912"/>
                    <a:pt x="222273" y="111312"/>
                    <a:pt x="247673" y="129092"/>
                  </a:cubicBezTo>
                  <a:cubicBezTo>
                    <a:pt x="274343" y="146872"/>
                    <a:pt x="308633" y="171002"/>
                    <a:pt x="321333" y="191322"/>
                  </a:cubicBezTo>
                  <a:cubicBezTo>
                    <a:pt x="330223" y="205292"/>
                    <a:pt x="332763" y="216722"/>
                    <a:pt x="332763" y="230692"/>
                  </a:cubicBezTo>
                  <a:cubicBezTo>
                    <a:pt x="332763" y="24847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29893" y="325942"/>
                    <a:pt x="221003" y="314512"/>
                  </a:cubicBezTo>
                  <a:cubicBezTo>
                    <a:pt x="207033" y="294192"/>
                    <a:pt x="255293" y="158302"/>
                    <a:pt x="276883" y="150682"/>
                  </a:cubicBezTo>
                  <a:cubicBezTo>
                    <a:pt x="287043" y="146872"/>
                    <a:pt x="302283" y="162112"/>
                    <a:pt x="311173" y="172272"/>
                  </a:cubicBezTo>
                  <a:cubicBezTo>
                    <a:pt x="322603" y="186242"/>
                    <a:pt x="332763" y="210372"/>
                    <a:pt x="334033" y="228152"/>
                  </a:cubicBezTo>
                  <a:cubicBezTo>
                    <a:pt x="335303" y="242122"/>
                    <a:pt x="332763" y="254822"/>
                    <a:pt x="326413" y="267522"/>
                  </a:cubicBezTo>
                  <a:cubicBezTo>
                    <a:pt x="317523" y="282762"/>
                    <a:pt x="299743" y="301812"/>
                    <a:pt x="281963" y="309432"/>
                  </a:cubicBezTo>
                  <a:cubicBezTo>
                    <a:pt x="265453" y="315782"/>
                    <a:pt x="243863" y="314512"/>
                    <a:pt x="222273" y="310702"/>
                  </a:cubicBezTo>
                  <a:cubicBezTo>
                    <a:pt x="198143" y="306892"/>
                    <a:pt x="170203" y="292922"/>
                    <a:pt x="144803" y="277682"/>
                  </a:cubicBezTo>
                  <a:cubicBezTo>
                    <a:pt x="116863" y="261172"/>
                    <a:pt x="78763" y="243392"/>
                    <a:pt x="62253" y="212912"/>
                  </a:cubicBezTo>
                  <a:cubicBezTo>
                    <a:pt x="43203" y="177352"/>
                    <a:pt x="48283" y="98612"/>
                    <a:pt x="54633" y="66862"/>
                  </a:cubicBezTo>
                  <a:cubicBezTo>
                    <a:pt x="58443" y="50352"/>
                    <a:pt x="66063" y="40192"/>
                    <a:pt x="74953" y="30032"/>
                  </a:cubicBezTo>
                  <a:cubicBezTo>
                    <a:pt x="83843" y="19872"/>
                    <a:pt x="96543" y="10982"/>
                    <a:pt x="109243" y="5902"/>
                  </a:cubicBezTo>
                  <a:cubicBezTo>
                    <a:pt x="121943" y="2092"/>
                    <a:pt x="137183" y="-448"/>
                    <a:pt x="149883" y="822"/>
                  </a:cubicBezTo>
                  <a:cubicBezTo>
                    <a:pt x="163853" y="3362"/>
                    <a:pt x="177823" y="8442"/>
                    <a:pt x="189253" y="16062"/>
                  </a:cubicBezTo>
                  <a:cubicBezTo>
                    <a:pt x="200683" y="23682"/>
                    <a:pt x="210843" y="35112"/>
                    <a:pt x="217193" y="47812"/>
                  </a:cubicBezTo>
                  <a:cubicBezTo>
                    <a:pt x="223543" y="59242"/>
                    <a:pt x="229893" y="70672"/>
                    <a:pt x="227353" y="88452"/>
                  </a:cubicBezTo>
                  <a:cubicBezTo>
                    <a:pt x="223543" y="120202"/>
                    <a:pt x="149883" y="216722"/>
                    <a:pt x="156233" y="223072"/>
                  </a:cubicBezTo>
                  <a:cubicBezTo>
                    <a:pt x="157503" y="225612"/>
                    <a:pt x="174013" y="211642"/>
                    <a:pt x="176553" y="214182"/>
                  </a:cubicBezTo>
                  <a:cubicBezTo>
                    <a:pt x="180363" y="217992"/>
                    <a:pt x="167663" y="253552"/>
                    <a:pt x="156233" y="266252"/>
                  </a:cubicBezTo>
                  <a:cubicBezTo>
                    <a:pt x="144803" y="280222"/>
                    <a:pt x="127023" y="294192"/>
                    <a:pt x="107973" y="296732"/>
                  </a:cubicBezTo>
                  <a:cubicBezTo>
                    <a:pt x="85113" y="299272"/>
                    <a:pt x="45743" y="291652"/>
                    <a:pt x="27963" y="275142"/>
                  </a:cubicBezTo>
                  <a:cubicBezTo>
                    <a:pt x="10183" y="258632"/>
                    <a:pt x="-1247" y="219262"/>
                    <a:pt x="1293" y="196402"/>
                  </a:cubicBezTo>
                  <a:cubicBezTo>
                    <a:pt x="2563" y="178622"/>
                    <a:pt x="13993" y="159572"/>
                    <a:pt x="26693" y="146872"/>
                  </a:cubicBezTo>
                  <a:cubicBezTo>
                    <a:pt x="39393" y="134172"/>
                    <a:pt x="58443" y="122742"/>
                    <a:pt x="77493" y="122742"/>
                  </a:cubicBezTo>
                  <a:cubicBezTo>
                    <a:pt x="100353" y="121472"/>
                    <a:pt x="138453" y="134172"/>
                    <a:pt x="154963" y="151952"/>
                  </a:cubicBezTo>
                  <a:cubicBezTo>
                    <a:pt x="170203" y="171002"/>
                    <a:pt x="177823" y="210372"/>
                    <a:pt x="174013" y="233232"/>
                  </a:cubicBezTo>
                  <a:cubicBezTo>
                    <a:pt x="170203" y="252282"/>
                    <a:pt x="156233" y="268792"/>
                    <a:pt x="142263" y="280222"/>
                  </a:cubicBezTo>
                  <a:cubicBezTo>
                    <a:pt x="128293" y="291652"/>
                    <a:pt x="106703" y="298002"/>
                    <a:pt x="88923" y="299272"/>
                  </a:cubicBezTo>
                  <a:cubicBezTo>
                    <a:pt x="71143" y="299272"/>
                    <a:pt x="49553" y="294192"/>
                    <a:pt x="35583" y="281492"/>
                  </a:cubicBezTo>
                  <a:cubicBezTo>
                    <a:pt x="17803" y="266252"/>
                    <a:pt x="23" y="237042"/>
                    <a:pt x="23" y="206562"/>
                  </a:cubicBezTo>
                  <a:cubicBezTo>
                    <a:pt x="-1247" y="160842"/>
                    <a:pt x="49553" y="60512"/>
                    <a:pt x="74953" y="30032"/>
                  </a:cubicBezTo>
                  <a:cubicBezTo>
                    <a:pt x="86383" y="16062"/>
                    <a:pt x="96543" y="10982"/>
                    <a:pt x="109243" y="5902"/>
                  </a:cubicBezTo>
                  <a:cubicBezTo>
                    <a:pt x="121943" y="2092"/>
                    <a:pt x="135913" y="-1718"/>
                    <a:pt x="149883" y="822"/>
                  </a:cubicBezTo>
                  <a:cubicBezTo>
                    <a:pt x="167663" y="4632"/>
                    <a:pt x="193063" y="17332"/>
                    <a:pt x="205763" y="30032"/>
                  </a:cubicBezTo>
                  <a:cubicBezTo>
                    <a:pt x="215923" y="40192"/>
                    <a:pt x="221003" y="56702"/>
                    <a:pt x="224813" y="66862"/>
                  </a:cubicBezTo>
                  <a:cubicBezTo>
                    <a:pt x="227353" y="74482"/>
                    <a:pt x="229893" y="80832"/>
                    <a:pt x="227353" y="88452"/>
                  </a:cubicBezTo>
                  <a:cubicBezTo>
                    <a:pt x="222273" y="99882"/>
                    <a:pt x="179093" y="113852"/>
                    <a:pt x="181633" y="126552"/>
                  </a:cubicBezTo>
                  <a:cubicBezTo>
                    <a:pt x="184173" y="144332"/>
                    <a:pt x="287043" y="153222"/>
                    <a:pt x="311173" y="172272"/>
                  </a:cubicBezTo>
                  <a:cubicBezTo>
                    <a:pt x="323873" y="183702"/>
                    <a:pt x="327683" y="193862"/>
                    <a:pt x="331493" y="207832"/>
                  </a:cubicBezTo>
                  <a:cubicBezTo>
                    <a:pt x="335303" y="224342"/>
                    <a:pt x="334033" y="251012"/>
                    <a:pt x="326413" y="267522"/>
                  </a:cubicBezTo>
                  <a:cubicBezTo>
                    <a:pt x="317523" y="284032"/>
                    <a:pt x="299743" y="301812"/>
                    <a:pt x="281963" y="309432"/>
                  </a:cubicBezTo>
                  <a:cubicBezTo>
                    <a:pt x="265453" y="315782"/>
                    <a:pt x="231163" y="322132"/>
                    <a:pt x="222273" y="310702"/>
                  </a:cubicBezTo>
                  <a:cubicBezTo>
                    <a:pt x="208303" y="291652"/>
                    <a:pt x="254023" y="160842"/>
                    <a:pt x="275613" y="153222"/>
                  </a:cubicBezTo>
                  <a:cubicBezTo>
                    <a:pt x="285773" y="150682"/>
                    <a:pt x="299743" y="164652"/>
                    <a:pt x="308633" y="176082"/>
                  </a:cubicBezTo>
                  <a:cubicBezTo>
                    <a:pt x="320063" y="188782"/>
                    <a:pt x="331493" y="211642"/>
                    <a:pt x="332763" y="230692"/>
                  </a:cubicBezTo>
                  <a:cubicBezTo>
                    <a:pt x="332763" y="24974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42593" y="320862"/>
                    <a:pt x="221003" y="314512"/>
                  </a:cubicBezTo>
                  <a:cubicBezTo>
                    <a:pt x="186713" y="304352"/>
                    <a:pt x="101623" y="257362"/>
                    <a:pt x="104163" y="237042"/>
                  </a:cubicBezTo>
                  <a:cubicBezTo>
                    <a:pt x="105433" y="219262"/>
                    <a:pt x="201953" y="192592"/>
                    <a:pt x="204493" y="196402"/>
                  </a:cubicBezTo>
                  <a:cubicBezTo>
                    <a:pt x="205763" y="198942"/>
                    <a:pt x="163853" y="238312"/>
                    <a:pt x="142263" y="240852"/>
                  </a:cubicBezTo>
                  <a:cubicBezTo>
                    <a:pt x="119403" y="243392"/>
                    <a:pt x="85113" y="231962"/>
                    <a:pt x="69873" y="215452"/>
                  </a:cubicBezTo>
                  <a:cubicBezTo>
                    <a:pt x="54633" y="197672"/>
                    <a:pt x="45743" y="163382"/>
                    <a:pt x="50823" y="140522"/>
                  </a:cubicBezTo>
                  <a:cubicBezTo>
                    <a:pt x="57173" y="116392"/>
                    <a:pt x="82573" y="89722"/>
                    <a:pt x="111783" y="73212"/>
                  </a:cubicBezTo>
                  <a:cubicBezTo>
                    <a:pt x="153693" y="49082"/>
                    <a:pt x="242593" y="37652"/>
                    <a:pt x="289583" y="35112"/>
                  </a:cubicBezTo>
                  <a:cubicBezTo>
                    <a:pt x="318793" y="33842"/>
                    <a:pt x="344193" y="32572"/>
                    <a:pt x="363243" y="45272"/>
                  </a:cubicBezTo>
                  <a:cubicBezTo>
                    <a:pt x="382293" y="56702"/>
                    <a:pt x="402613" y="83372"/>
                    <a:pt x="405153" y="104962"/>
                  </a:cubicBezTo>
                  <a:cubicBezTo>
                    <a:pt x="407693" y="125282"/>
                    <a:pt x="393723" y="157032"/>
                    <a:pt x="378483" y="172272"/>
                  </a:cubicBezTo>
                  <a:cubicBezTo>
                    <a:pt x="365783" y="184972"/>
                    <a:pt x="327683" y="191322"/>
                    <a:pt x="327683" y="191322"/>
                  </a:cubicBezTo>
                </a:path>
              </a:pathLst>
            </a:custGeom>
            <a:solidFill>
              <a:srgbClr val="FFFF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890270" y="2477311"/>
            <a:ext cx="2950423" cy="2030172"/>
          </a:xfrm>
          <a:custGeom>
            <a:avLst/>
            <a:gdLst/>
            <a:ahLst/>
            <a:cxnLst/>
            <a:rect r="r" b="b" t="t" l="l"/>
            <a:pathLst>
              <a:path h="2030172" w="2950423">
                <a:moveTo>
                  <a:pt x="0" y="0"/>
                </a:moveTo>
                <a:lnTo>
                  <a:pt x="2950423" y="0"/>
                </a:lnTo>
                <a:lnTo>
                  <a:pt x="2950423" y="2030172"/>
                </a:lnTo>
                <a:lnTo>
                  <a:pt x="0" y="2030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59241" y="5143500"/>
            <a:ext cx="2103868" cy="1926757"/>
          </a:xfrm>
          <a:custGeom>
            <a:avLst/>
            <a:gdLst/>
            <a:ahLst/>
            <a:cxnLst/>
            <a:rect r="r" b="b" t="t" l="l"/>
            <a:pathLst>
              <a:path h="1926757" w="2103868">
                <a:moveTo>
                  <a:pt x="0" y="0"/>
                </a:moveTo>
                <a:lnTo>
                  <a:pt x="2103868" y="0"/>
                </a:lnTo>
                <a:lnTo>
                  <a:pt x="2103868" y="1926757"/>
                </a:lnTo>
                <a:lnTo>
                  <a:pt x="0" y="19267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288880" y="516406"/>
            <a:ext cx="9144000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 Automation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9129" y="1656054"/>
            <a:ext cx="13660112" cy="15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CI/CD Pipeline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Automated testing (future work), Docker builds (next milestone assignement), and deployments via GitHub Actions (workflow for next milestones).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9129" y="2800333"/>
            <a:ext cx="13660112" cy="256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Cloud Data Management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Utilizing a Google Cloud Storage (GCS) bucket to securely store, version, and manage our large Spotify dataset and model artifacts outside of our codebase.</a:t>
            </a:r>
          </a:p>
          <a:p>
            <a:pPr algn="l">
              <a:lnSpc>
                <a:spcPts val="411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99129" y="5331927"/>
            <a:ext cx="13660112" cy="256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Configurations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According to project guidelines... </a:t>
            </a:r>
          </a:p>
          <a:p>
            <a:pPr algn="l" marL="682645" indent="-341323" lvl="1">
              <a:lnSpc>
                <a:spcPts val="4110"/>
              </a:lnSpc>
              <a:spcBef>
                <a:spcPct val="0"/>
              </a:spcBef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 quality check: </a:t>
            </a:r>
            <a:r>
              <a:rPr lang="en-US" b="true" sz="316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Ruff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 Python code; fast and all-in-one (both linting and formatting) </a:t>
            </a:r>
          </a:p>
          <a:p>
            <a:pPr algn="l" marL="682645" indent="-341323" lvl="1">
              <a:lnSpc>
                <a:spcPts val="4110"/>
              </a:lnSpc>
              <a:spcBef>
                <a:spcPct val="0"/>
              </a:spcBef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Pytest: folder tests, mainly used for labs </a:t>
            </a:r>
          </a:p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Pre-commit hooks: only </a:t>
            </a:r>
            <a:r>
              <a:rPr lang="en-US" b="true" sz="316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.yaml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file for setup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7672" y="2528684"/>
            <a:ext cx="15189194" cy="518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Dataset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21 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variables and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114,000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observations/tracks (125 genres). 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i="true" u="sng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4" tooltip="https://www.kaggle.com/datasets/maharshipandya/-spotify-tracks-dataset"/>
              </a:rPr>
              <a:t>kaggle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Metadata &amp; Identifiers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track_id, artists, album_name, track_name and track_genre.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Audio features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Rythm and intensity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danceability, energy, tempo and loudness.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Mood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valence and mode.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Sound composition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acousticness, instrumentalness, speechiness, liveness and explicit.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Structure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key, time_signature and duration_ms.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: 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00868" y="2714340"/>
            <a:ext cx="8844857" cy="6180344"/>
          </a:xfrm>
          <a:custGeom>
            <a:avLst/>
            <a:gdLst/>
            <a:ahLst/>
            <a:cxnLst/>
            <a:rect r="r" b="b" t="t" l="l"/>
            <a:pathLst>
              <a:path h="6180344" w="8844857">
                <a:moveTo>
                  <a:pt x="0" y="0"/>
                </a:moveTo>
                <a:lnTo>
                  <a:pt x="8844858" y="0"/>
                </a:lnTo>
                <a:lnTo>
                  <a:pt x="8844858" y="6180344"/>
                </a:lnTo>
                <a:lnTo>
                  <a:pt x="0" y="6180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99975"/>
            <a:ext cx="15189194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Audio features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Different scales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0-1, integer, ms, True/False, BPM and dB.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: 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7672" y="2528684"/>
            <a:ext cx="15189194" cy="414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Target variable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Initial target variable :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Popularity (0-100).</a:t>
            </a:r>
          </a:p>
          <a:p>
            <a:pPr algn="l" marL="1878327" indent="-469582" lvl="3">
              <a:lnSpc>
                <a:spcPts val="3769"/>
              </a:lnSpc>
              <a:buFont typeface="Arial"/>
              <a:buChar char="￭"/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 factors : total number of streams and how recent those streams are.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 target variable :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Hit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(0-1).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Threshold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at 65 : 8.31% hit (9477). 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Missing values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 observation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 missing variables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artists, album_name and track_name.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: 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8948" y="2395911"/>
            <a:ext cx="8280352" cy="7494448"/>
          </a:xfrm>
          <a:custGeom>
            <a:avLst/>
            <a:gdLst/>
            <a:ahLst/>
            <a:cxnLst/>
            <a:rect r="r" b="b" t="t" l="l"/>
            <a:pathLst>
              <a:path h="7494448" w="8280352">
                <a:moveTo>
                  <a:pt x="0" y="0"/>
                </a:moveTo>
                <a:lnTo>
                  <a:pt x="8280352" y="0"/>
                </a:lnTo>
                <a:lnTo>
                  <a:pt x="8280352" y="7494448"/>
                </a:lnTo>
                <a:lnTo>
                  <a:pt x="0" y="7494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151761">
            <a:off x="12358290" y="-5332812"/>
            <a:ext cx="8542916" cy="6228562"/>
          </a:xfrm>
          <a:custGeom>
            <a:avLst/>
            <a:gdLst/>
            <a:ahLst/>
            <a:cxnLst/>
            <a:rect r="r" b="b" t="t" l="l"/>
            <a:pathLst>
              <a:path h="6228562" w="8542916">
                <a:moveTo>
                  <a:pt x="0" y="0"/>
                </a:moveTo>
                <a:lnTo>
                  <a:pt x="8542916" y="0"/>
                </a:lnTo>
                <a:lnTo>
                  <a:pt x="8542916" y="6228562"/>
                </a:lnTo>
                <a:lnTo>
                  <a:pt x="0" y="622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7605" y="2528684"/>
            <a:ext cx="7916593" cy="456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Correlation matrix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Highest positive correlation: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0.76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between loudness and energy.</a:t>
            </a:r>
          </a:p>
          <a:p>
            <a:pPr algn="l">
              <a:lnSpc>
                <a:spcPts val="4029"/>
              </a:lnSpc>
            </a:pP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Highest negative correlation: -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0.73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between energy and acousticness.</a:t>
            </a:r>
          </a:p>
          <a:p>
            <a:pPr algn="l">
              <a:lnSpc>
                <a:spcPts val="4029"/>
              </a:lnSpc>
            </a:pP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Popularity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does not show strong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correlation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=&gt; non-linear model.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 : 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49437" y="-5207140"/>
            <a:ext cx="8148144" cy="5940737"/>
          </a:xfrm>
          <a:custGeom>
            <a:avLst/>
            <a:gdLst/>
            <a:ahLst/>
            <a:cxnLst/>
            <a:rect r="r" b="b" t="t" l="l"/>
            <a:pathLst>
              <a:path h="5940737" w="8148144">
                <a:moveTo>
                  <a:pt x="0" y="0"/>
                </a:moveTo>
                <a:lnTo>
                  <a:pt x="8148143" y="0"/>
                </a:lnTo>
                <a:lnTo>
                  <a:pt x="8148143" y="5940738"/>
                </a:lnTo>
                <a:lnTo>
                  <a:pt x="0" y="594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137534" y="8025120"/>
            <a:ext cx="10077207" cy="7347200"/>
          </a:xfrm>
          <a:custGeom>
            <a:avLst/>
            <a:gdLst/>
            <a:ahLst/>
            <a:cxnLst/>
            <a:rect r="r" b="b" t="t" l="l"/>
            <a:pathLst>
              <a:path h="7347200" w="10077207">
                <a:moveTo>
                  <a:pt x="0" y="0"/>
                </a:moveTo>
                <a:lnTo>
                  <a:pt x="10077207" y="0"/>
                </a:lnTo>
                <a:lnTo>
                  <a:pt x="10077207" y="7347200"/>
                </a:lnTo>
                <a:lnTo>
                  <a:pt x="0" y="734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27409" y="2376448"/>
            <a:ext cx="9432422" cy="5740871"/>
            <a:chOff x="0" y="0"/>
            <a:chExt cx="12576562" cy="76544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47724"/>
              <a:ext cx="3677653" cy="3569288"/>
            </a:xfrm>
            <a:custGeom>
              <a:avLst/>
              <a:gdLst/>
              <a:ahLst/>
              <a:cxnLst/>
              <a:rect r="r" b="b" t="t" l="l"/>
              <a:pathLst>
                <a:path h="3569288" w="3677653">
                  <a:moveTo>
                    <a:pt x="0" y="0"/>
                  </a:moveTo>
                  <a:lnTo>
                    <a:pt x="3677653" y="0"/>
                  </a:lnTo>
                  <a:lnTo>
                    <a:pt x="3677653" y="3569288"/>
                  </a:lnTo>
                  <a:lnTo>
                    <a:pt x="0" y="3569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60362" y="4046707"/>
              <a:ext cx="3453725" cy="3377591"/>
            </a:xfrm>
            <a:custGeom>
              <a:avLst/>
              <a:gdLst/>
              <a:ahLst/>
              <a:cxnLst/>
              <a:rect r="r" b="b" t="t" l="l"/>
              <a:pathLst>
                <a:path h="3377591" w="3453725">
                  <a:moveTo>
                    <a:pt x="0" y="0"/>
                  </a:moveTo>
                  <a:lnTo>
                    <a:pt x="3453725" y="0"/>
                  </a:lnTo>
                  <a:lnTo>
                    <a:pt x="3453725" y="3377590"/>
                  </a:lnTo>
                  <a:lnTo>
                    <a:pt x="0" y="3377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677653" y="0"/>
              <a:ext cx="8898909" cy="7654494"/>
            </a:xfrm>
            <a:custGeom>
              <a:avLst/>
              <a:gdLst/>
              <a:ahLst/>
              <a:cxnLst/>
              <a:rect r="r" b="b" t="t" l="l"/>
              <a:pathLst>
                <a:path h="7654494" w="8898909">
                  <a:moveTo>
                    <a:pt x="0" y="0"/>
                  </a:moveTo>
                  <a:lnTo>
                    <a:pt x="8898909" y="0"/>
                  </a:lnTo>
                  <a:lnTo>
                    <a:pt x="8898909" y="7654494"/>
                  </a:lnTo>
                  <a:lnTo>
                    <a:pt x="0" y="7654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90715" y="2528684"/>
            <a:ext cx="7836694" cy="556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PCA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Explained variances:</a:t>
            </a:r>
          </a:p>
          <a:p>
            <a:pPr algn="l" marL="1878327" indent="-469582" lvl="3">
              <a:lnSpc>
                <a:spcPts val="3769"/>
              </a:lnSpc>
              <a:buFont typeface="Arial"/>
              <a:buChar char="￭"/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PC1 : 28%, </a:t>
            </a: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PC2 : 15% and </a:t>
            </a:r>
          </a:p>
          <a:p>
            <a:pPr algn="l">
              <a:lnSpc>
                <a:spcPts val="3769"/>
              </a:lnSpc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 PC3 : 12%</a:t>
            </a: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clear cluster.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clear distinction by the categorical variables.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Implication for ML modelling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Strong imbalance (8.31 % of hit).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clear cluster.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linear trend.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 : 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3660981" y="-3948314"/>
            <a:ext cx="7196637" cy="5247003"/>
          </a:xfrm>
          <a:custGeom>
            <a:avLst/>
            <a:gdLst/>
            <a:ahLst/>
            <a:cxnLst/>
            <a:rect r="r" b="b" t="t" l="l"/>
            <a:pathLst>
              <a:path h="5247003" w="7196637">
                <a:moveTo>
                  <a:pt x="0" y="0"/>
                </a:moveTo>
                <a:lnTo>
                  <a:pt x="7196638" y="0"/>
                </a:lnTo>
                <a:lnTo>
                  <a:pt x="7196638" y="5247002"/>
                </a:lnTo>
                <a:lnTo>
                  <a:pt x="0" y="524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654906" y="8632150"/>
            <a:ext cx="9267130" cy="6756580"/>
          </a:xfrm>
          <a:custGeom>
            <a:avLst/>
            <a:gdLst/>
            <a:ahLst/>
            <a:cxnLst/>
            <a:rect r="r" b="b" t="t" l="l"/>
            <a:pathLst>
              <a:path h="6756580" w="9267130">
                <a:moveTo>
                  <a:pt x="0" y="0"/>
                </a:moveTo>
                <a:lnTo>
                  <a:pt x="9267130" y="0"/>
                </a:lnTo>
                <a:lnTo>
                  <a:pt x="9267130" y="6756580"/>
                </a:lnTo>
                <a:lnTo>
                  <a:pt x="0" y="675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454" y="1687195"/>
            <a:ext cx="11550272" cy="757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Goal: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Classify Spotify tracks as "Hits" (Popularity over 65) vs. "Flops".</a:t>
            </a:r>
          </a:p>
          <a:p>
            <a:pPr algn="l">
              <a:lnSpc>
                <a:spcPts val="4029"/>
              </a:lnSpc>
            </a:pP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Challenge: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Extreme Class Imbalance (Only 8.31% Hits).</a:t>
            </a:r>
          </a:p>
          <a:p>
            <a:pPr algn="l">
              <a:lnSpc>
                <a:spcPts val="4029"/>
              </a:lnSpc>
            </a:pP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Experiment Setup: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Split: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70/30 Stratified Split 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Validation: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Stratified K-Fold Cross-Validation (with shuffle).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Algorithms Tested: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KNN, Random Forest, Gradient Boosting.</a:t>
            </a:r>
          </a:p>
          <a:p>
            <a:pPr algn="l">
              <a:lnSpc>
                <a:spcPts val="4029"/>
              </a:lnSpc>
            </a:pP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Decision Metric: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F1-Score , Prioritized over Accuracy to handle the class imbalance.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64726" y="1891214"/>
            <a:ext cx="5817532" cy="3177827"/>
          </a:xfrm>
          <a:custGeom>
            <a:avLst/>
            <a:gdLst/>
            <a:ahLst/>
            <a:cxnLst/>
            <a:rect r="r" b="b" t="t" l="l"/>
            <a:pathLst>
              <a:path h="3177827" w="5817532">
                <a:moveTo>
                  <a:pt x="0" y="0"/>
                </a:moveTo>
                <a:lnTo>
                  <a:pt x="5817532" y="0"/>
                </a:lnTo>
                <a:lnTo>
                  <a:pt x="5817532" y="3177826"/>
                </a:lnTo>
                <a:lnTo>
                  <a:pt x="0" y="3177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58984" y="5774693"/>
            <a:ext cx="6023274" cy="3290213"/>
          </a:xfrm>
          <a:custGeom>
            <a:avLst/>
            <a:gdLst/>
            <a:ahLst/>
            <a:cxnLst/>
            <a:rect r="r" b="b" t="t" l="l"/>
            <a:pathLst>
              <a:path h="3290213" w="6023274">
                <a:moveTo>
                  <a:pt x="0" y="0"/>
                </a:moveTo>
                <a:lnTo>
                  <a:pt x="6023274" y="0"/>
                </a:lnTo>
                <a:lnTo>
                  <a:pt x="6023274" y="3290213"/>
                </a:lnTo>
                <a:lnTo>
                  <a:pt x="0" y="3290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467" y="655859"/>
            <a:ext cx="2129706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 Models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57784" y="9138530"/>
            <a:ext cx="8936268" cy="6515352"/>
          </a:xfrm>
          <a:custGeom>
            <a:avLst/>
            <a:gdLst/>
            <a:ahLst/>
            <a:cxnLst/>
            <a:rect r="r" b="b" t="t" l="l"/>
            <a:pathLst>
              <a:path h="6515352" w="8936268">
                <a:moveTo>
                  <a:pt x="0" y="0"/>
                </a:moveTo>
                <a:lnTo>
                  <a:pt x="8936267" y="0"/>
                </a:lnTo>
                <a:lnTo>
                  <a:pt x="8936267" y="6515352"/>
                </a:lnTo>
                <a:lnTo>
                  <a:pt x="0" y="6515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52291" y="1363386"/>
            <a:ext cx="12545026" cy="5774695"/>
          </a:xfrm>
          <a:custGeom>
            <a:avLst/>
            <a:gdLst/>
            <a:ahLst/>
            <a:cxnLst/>
            <a:rect r="r" b="b" t="t" l="l"/>
            <a:pathLst>
              <a:path h="5774695" w="12545026">
                <a:moveTo>
                  <a:pt x="0" y="0"/>
                </a:moveTo>
                <a:lnTo>
                  <a:pt x="12545026" y="0"/>
                </a:lnTo>
                <a:lnTo>
                  <a:pt x="12545026" y="5774694"/>
                </a:lnTo>
                <a:lnTo>
                  <a:pt x="0" y="5774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5558" y="7263812"/>
            <a:ext cx="13898761" cy="2223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6007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Gradient Boosting struggled heavily  (39%).</a:t>
            </a:r>
          </a:p>
          <a:p>
            <a:pPr algn="l" marL="682645" indent="-341323" lvl="1">
              <a:lnSpc>
                <a:spcPts val="6007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KNN achieved the highest overall score but required strict feature scaling.</a:t>
            </a:r>
          </a:p>
          <a:p>
            <a:pPr algn="l" marL="682645" indent="-341323" lvl="1">
              <a:lnSpc>
                <a:spcPts val="6007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Random Forest handled the imbalance naturally via class weights.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5467" y="655859"/>
            <a:ext cx="2129706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 Models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57784" y="9138530"/>
            <a:ext cx="8936268" cy="6515352"/>
          </a:xfrm>
          <a:custGeom>
            <a:avLst/>
            <a:gdLst/>
            <a:ahLst/>
            <a:cxnLst/>
            <a:rect r="r" b="b" t="t" l="l"/>
            <a:pathLst>
              <a:path h="6515352" w="8936268">
                <a:moveTo>
                  <a:pt x="0" y="0"/>
                </a:moveTo>
                <a:lnTo>
                  <a:pt x="8936267" y="0"/>
                </a:lnTo>
                <a:lnTo>
                  <a:pt x="8936267" y="6515352"/>
                </a:lnTo>
                <a:lnTo>
                  <a:pt x="0" y="6515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5558" y="1416350"/>
            <a:ext cx="13371139" cy="5516884"/>
          </a:xfrm>
          <a:custGeom>
            <a:avLst/>
            <a:gdLst/>
            <a:ahLst/>
            <a:cxnLst/>
            <a:rect r="r" b="b" t="t" l="l"/>
            <a:pathLst>
              <a:path h="5516884" w="13371139">
                <a:moveTo>
                  <a:pt x="0" y="0"/>
                </a:moveTo>
                <a:lnTo>
                  <a:pt x="13371139" y="0"/>
                </a:lnTo>
                <a:lnTo>
                  <a:pt x="13371139" y="5516884"/>
                </a:lnTo>
                <a:lnTo>
                  <a:pt x="0" y="5516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010349" y="7180884"/>
            <a:ext cx="616135" cy="507406"/>
            <a:chOff x="0" y="0"/>
            <a:chExt cx="647700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A8C9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53881" y="7009434"/>
            <a:ext cx="14986813" cy="18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265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chose Random Forest for production. Despite KNN’s slightly higher F1-score, Random Forest is faster, uses less memory, and is more robust. It eliminates the need for feature scaling, significantly reducing technical debt and complexity for our MLOps pipeline.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467" y="655859"/>
            <a:ext cx="2129706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 Models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60451">
            <a:off x="-3704475" y="5082768"/>
            <a:ext cx="8954562" cy="6805467"/>
          </a:xfrm>
          <a:custGeom>
            <a:avLst/>
            <a:gdLst/>
            <a:ahLst/>
            <a:cxnLst/>
            <a:rect r="r" b="b" t="t" l="l"/>
            <a:pathLst>
              <a:path h="6805467" w="8954562">
                <a:moveTo>
                  <a:pt x="0" y="0"/>
                </a:moveTo>
                <a:lnTo>
                  <a:pt x="8954562" y="0"/>
                </a:lnTo>
                <a:lnTo>
                  <a:pt x="8954562" y="6805467"/>
                </a:lnTo>
                <a:lnTo>
                  <a:pt x="0" y="6805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8089" y="2768224"/>
            <a:ext cx="6791821" cy="333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21"/>
              </a:lnSpc>
              <a:spcBef>
                <a:spcPct val="0"/>
              </a:spcBef>
            </a:pPr>
            <a:r>
              <a:rPr lang="en-US" b="true" sz="20631">
                <a:solidFill>
                  <a:srgbClr val="56777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</a:t>
            </a:r>
            <a:r>
              <a:rPr lang="en-US" b="true" sz="2063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0631">
                <a:solidFill>
                  <a:srgbClr val="F243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&amp;</a:t>
            </a:r>
            <a:r>
              <a:rPr lang="en-US" b="true" sz="2063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0631">
                <a:solidFill>
                  <a:srgbClr val="56777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DAHCjJ8JVOI</dc:identifier>
  <dcterms:modified xsi:type="dcterms:W3CDTF">2011-08-01T06:04:30Z</dcterms:modified>
  <cp:revision>1</cp:revision>
  <dc:title>AI DJ: Spotify Hit Predictor</dc:title>
</cp:coreProperties>
</file>